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BB64B-71F6-4D73-8E90-98004A13178C}" v="163" dt="2024-12-05T04:31:37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84910E-DE80-4A45-BA2A-6D6E387A75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DB5019-0B6E-4688-A271-099EA7F30F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Company Name</a:t>
          </a:r>
          <a:r>
            <a:rPr lang="en-US" b="0" i="0" baseline="0"/>
            <a:t>: MAGNET TELELINKS PVT LTD</a:t>
          </a:r>
          <a:endParaRPr lang="en-US"/>
        </a:p>
      </dgm:t>
    </dgm:pt>
    <dgm:pt modelId="{2965D9E9-0CBE-4827-BF0E-C2978CF5BA74}" type="parTrans" cxnId="{D235420A-8EAC-4555-B29E-FAD7CBB2C395}">
      <dgm:prSet/>
      <dgm:spPr/>
      <dgm:t>
        <a:bodyPr/>
        <a:lstStyle/>
        <a:p>
          <a:endParaRPr lang="en-US"/>
        </a:p>
      </dgm:t>
    </dgm:pt>
    <dgm:pt modelId="{EE7509A9-B80C-481A-B4D2-1EB165588E00}" type="sibTrans" cxnId="{D235420A-8EAC-4555-B29E-FAD7CBB2C395}">
      <dgm:prSet/>
      <dgm:spPr/>
      <dgm:t>
        <a:bodyPr/>
        <a:lstStyle/>
        <a:p>
          <a:endParaRPr lang="en-US"/>
        </a:p>
      </dgm:t>
    </dgm:pt>
    <dgm:pt modelId="{8622A8B2-D5DB-4174-B273-C4E1F99DD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Industry</a:t>
          </a:r>
          <a:r>
            <a:rPr lang="en-US" b="0" i="0" baseline="0"/>
            <a:t>: Electronics Retail</a:t>
          </a:r>
          <a:endParaRPr lang="en-US"/>
        </a:p>
      </dgm:t>
    </dgm:pt>
    <dgm:pt modelId="{16D565CE-9D8A-4882-9502-52F685001B88}" type="parTrans" cxnId="{8FE91B71-EBD7-4958-A5E1-B58D36F0B8A7}">
      <dgm:prSet/>
      <dgm:spPr/>
      <dgm:t>
        <a:bodyPr/>
        <a:lstStyle/>
        <a:p>
          <a:endParaRPr lang="en-US"/>
        </a:p>
      </dgm:t>
    </dgm:pt>
    <dgm:pt modelId="{9D8A00A9-99EC-4606-B833-6C0EC5300C32}" type="sibTrans" cxnId="{8FE91B71-EBD7-4958-A5E1-B58D36F0B8A7}">
      <dgm:prSet/>
      <dgm:spPr/>
      <dgm:t>
        <a:bodyPr/>
        <a:lstStyle/>
        <a:p>
          <a:endParaRPr lang="en-US"/>
        </a:p>
      </dgm:t>
    </dgm:pt>
    <dgm:pt modelId="{47F839FE-200A-4F1F-AE69-2353A83A2C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Headquarters</a:t>
          </a:r>
          <a:r>
            <a:rPr lang="en-US" b="0" i="0" baseline="0"/>
            <a:t>: Mumbai, India</a:t>
          </a:r>
          <a:endParaRPr lang="en-US"/>
        </a:p>
      </dgm:t>
    </dgm:pt>
    <dgm:pt modelId="{CF3D20EB-9C50-410E-9BED-68BC1A35F8EB}" type="parTrans" cxnId="{97373F6D-8E74-4525-83A2-0710AF0E8879}">
      <dgm:prSet/>
      <dgm:spPr/>
      <dgm:t>
        <a:bodyPr/>
        <a:lstStyle/>
        <a:p>
          <a:endParaRPr lang="en-US"/>
        </a:p>
      </dgm:t>
    </dgm:pt>
    <dgm:pt modelId="{D96370C1-E205-47D9-AE89-1F23D96DF526}" type="sibTrans" cxnId="{97373F6D-8E74-4525-83A2-0710AF0E8879}">
      <dgm:prSet/>
      <dgm:spPr/>
      <dgm:t>
        <a:bodyPr/>
        <a:lstStyle/>
        <a:p>
          <a:endParaRPr lang="en-US"/>
        </a:p>
      </dgm:t>
    </dgm:pt>
    <dgm:pt modelId="{FC7DBD24-E5D1-4860-AA40-48692976FF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Overview</a:t>
          </a:r>
          <a:r>
            <a:rPr lang="en-US" b="0" i="0" baseline="0" dirty="0"/>
            <a:t>: Leading pure-play value e-commerce company in India. Top destination for electronics retail, catering to budget-conscious consumers.</a:t>
          </a:r>
          <a:endParaRPr lang="en-US" dirty="0"/>
        </a:p>
      </dgm:t>
    </dgm:pt>
    <dgm:pt modelId="{2D46B4D8-FFD4-437D-BFF3-9C7A75E0B40E}" type="parTrans" cxnId="{137E9893-D9A8-43DD-814B-08BE6DA3146C}">
      <dgm:prSet/>
      <dgm:spPr/>
      <dgm:t>
        <a:bodyPr/>
        <a:lstStyle/>
        <a:p>
          <a:endParaRPr lang="en-US"/>
        </a:p>
      </dgm:t>
    </dgm:pt>
    <dgm:pt modelId="{4D7A98D3-1E9A-4337-AF50-1143310A9DC2}" type="sibTrans" cxnId="{137E9893-D9A8-43DD-814B-08BE6DA3146C}">
      <dgm:prSet/>
      <dgm:spPr/>
      <dgm:t>
        <a:bodyPr/>
        <a:lstStyle/>
        <a:p>
          <a:endParaRPr lang="en-US"/>
        </a:p>
      </dgm:t>
    </dgm:pt>
    <dgm:pt modelId="{6F4614A6-E445-4F93-A733-94F337BB518E}" type="pres">
      <dgm:prSet presAssocID="{7F84910E-DE80-4A45-BA2A-6D6E387A75AD}" presName="root" presStyleCnt="0">
        <dgm:presLayoutVars>
          <dgm:dir/>
          <dgm:resizeHandles val="exact"/>
        </dgm:presLayoutVars>
      </dgm:prSet>
      <dgm:spPr/>
    </dgm:pt>
    <dgm:pt modelId="{AEBA5EA4-5262-47D6-90EA-71D5CB5AFC81}" type="pres">
      <dgm:prSet presAssocID="{5BDB5019-0B6E-4688-A271-099EA7F30FE2}" presName="compNode" presStyleCnt="0"/>
      <dgm:spPr/>
    </dgm:pt>
    <dgm:pt modelId="{2D84050E-E647-4DD3-83E6-033CDD6F4C1C}" type="pres">
      <dgm:prSet presAssocID="{5BDB5019-0B6E-4688-A271-099EA7F30FE2}" presName="bgRect" presStyleLbl="bgShp" presStyleIdx="0" presStyleCnt="4"/>
      <dgm:spPr/>
    </dgm:pt>
    <dgm:pt modelId="{3DB7E441-51BB-4213-8B00-1B97F104E784}" type="pres">
      <dgm:prSet presAssocID="{5BDB5019-0B6E-4688-A271-099EA7F30F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C13031B3-F834-4BC6-9BC3-74831E6A23CC}" type="pres">
      <dgm:prSet presAssocID="{5BDB5019-0B6E-4688-A271-099EA7F30FE2}" presName="spaceRect" presStyleCnt="0"/>
      <dgm:spPr/>
    </dgm:pt>
    <dgm:pt modelId="{9C1D8114-F063-4D54-A247-3FE1EE06BAA5}" type="pres">
      <dgm:prSet presAssocID="{5BDB5019-0B6E-4688-A271-099EA7F30FE2}" presName="parTx" presStyleLbl="revTx" presStyleIdx="0" presStyleCnt="4">
        <dgm:presLayoutVars>
          <dgm:chMax val="0"/>
          <dgm:chPref val="0"/>
        </dgm:presLayoutVars>
      </dgm:prSet>
      <dgm:spPr/>
    </dgm:pt>
    <dgm:pt modelId="{E037FFAD-416D-4750-813A-DAF1CF3ABD91}" type="pres">
      <dgm:prSet presAssocID="{EE7509A9-B80C-481A-B4D2-1EB165588E00}" presName="sibTrans" presStyleCnt="0"/>
      <dgm:spPr/>
    </dgm:pt>
    <dgm:pt modelId="{A7505149-DBFE-4CDA-8151-B9677A3BEB3D}" type="pres">
      <dgm:prSet presAssocID="{8622A8B2-D5DB-4174-B273-C4E1F99DD9C4}" presName="compNode" presStyleCnt="0"/>
      <dgm:spPr/>
    </dgm:pt>
    <dgm:pt modelId="{709782C7-B26B-47E6-8FD4-3EB661A42D7F}" type="pres">
      <dgm:prSet presAssocID="{8622A8B2-D5DB-4174-B273-C4E1F99DD9C4}" presName="bgRect" presStyleLbl="bgShp" presStyleIdx="1" presStyleCnt="4"/>
      <dgm:spPr/>
    </dgm:pt>
    <dgm:pt modelId="{EEDD9357-C55F-4495-8E31-9CE7FB388C8C}" type="pres">
      <dgm:prSet presAssocID="{8622A8B2-D5DB-4174-B273-C4E1F99DD9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DA73D1-5041-4BDD-BC9C-AF6E2B0F402C}" type="pres">
      <dgm:prSet presAssocID="{8622A8B2-D5DB-4174-B273-C4E1F99DD9C4}" presName="spaceRect" presStyleCnt="0"/>
      <dgm:spPr/>
    </dgm:pt>
    <dgm:pt modelId="{5AB8197B-CF72-4500-A37D-012D1F3D6A40}" type="pres">
      <dgm:prSet presAssocID="{8622A8B2-D5DB-4174-B273-C4E1F99DD9C4}" presName="parTx" presStyleLbl="revTx" presStyleIdx="1" presStyleCnt="4">
        <dgm:presLayoutVars>
          <dgm:chMax val="0"/>
          <dgm:chPref val="0"/>
        </dgm:presLayoutVars>
      </dgm:prSet>
      <dgm:spPr/>
    </dgm:pt>
    <dgm:pt modelId="{E32C0852-F6F9-4D29-9E5F-6AFADA9BE370}" type="pres">
      <dgm:prSet presAssocID="{9D8A00A9-99EC-4606-B833-6C0EC5300C32}" presName="sibTrans" presStyleCnt="0"/>
      <dgm:spPr/>
    </dgm:pt>
    <dgm:pt modelId="{DB670F47-CB95-41E5-8BD1-E0A59AB97665}" type="pres">
      <dgm:prSet presAssocID="{47F839FE-200A-4F1F-AE69-2353A83A2C03}" presName="compNode" presStyleCnt="0"/>
      <dgm:spPr/>
    </dgm:pt>
    <dgm:pt modelId="{3BECE785-E570-4E56-B16E-CC3C5F835595}" type="pres">
      <dgm:prSet presAssocID="{47F839FE-200A-4F1F-AE69-2353A83A2C03}" presName="bgRect" presStyleLbl="bgShp" presStyleIdx="2" presStyleCnt="4"/>
      <dgm:spPr/>
    </dgm:pt>
    <dgm:pt modelId="{609A2361-6A53-43F5-8581-A2BE7B379F90}" type="pres">
      <dgm:prSet presAssocID="{47F839FE-200A-4F1F-AE69-2353A83A2C0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EFCD468F-9D47-4E63-9EA4-608685CE5CE6}" type="pres">
      <dgm:prSet presAssocID="{47F839FE-200A-4F1F-AE69-2353A83A2C03}" presName="spaceRect" presStyleCnt="0"/>
      <dgm:spPr/>
    </dgm:pt>
    <dgm:pt modelId="{65230186-8140-440D-963D-2C0361AC1C0C}" type="pres">
      <dgm:prSet presAssocID="{47F839FE-200A-4F1F-AE69-2353A83A2C03}" presName="parTx" presStyleLbl="revTx" presStyleIdx="2" presStyleCnt="4">
        <dgm:presLayoutVars>
          <dgm:chMax val="0"/>
          <dgm:chPref val="0"/>
        </dgm:presLayoutVars>
      </dgm:prSet>
      <dgm:spPr/>
    </dgm:pt>
    <dgm:pt modelId="{D2BC779B-151D-4F22-ACE3-FD43C1BDECEE}" type="pres">
      <dgm:prSet presAssocID="{D96370C1-E205-47D9-AE89-1F23D96DF526}" presName="sibTrans" presStyleCnt="0"/>
      <dgm:spPr/>
    </dgm:pt>
    <dgm:pt modelId="{80633A9D-1C43-41DD-9856-5E83C2A234EE}" type="pres">
      <dgm:prSet presAssocID="{FC7DBD24-E5D1-4860-AA40-48692976FFFF}" presName="compNode" presStyleCnt="0"/>
      <dgm:spPr/>
    </dgm:pt>
    <dgm:pt modelId="{633675C9-D778-4517-B78C-1071323AF3AF}" type="pres">
      <dgm:prSet presAssocID="{FC7DBD24-E5D1-4860-AA40-48692976FFFF}" presName="bgRect" presStyleLbl="bgShp" presStyleIdx="3" presStyleCnt="4"/>
      <dgm:spPr/>
    </dgm:pt>
    <dgm:pt modelId="{719C5199-0953-4620-AF3D-B6B3130804A9}" type="pres">
      <dgm:prSet presAssocID="{FC7DBD24-E5D1-4860-AA40-48692976FF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BFD1BBE-BC75-4E5C-9E34-D666CD6B0B91}" type="pres">
      <dgm:prSet presAssocID="{FC7DBD24-E5D1-4860-AA40-48692976FFFF}" presName="spaceRect" presStyleCnt="0"/>
      <dgm:spPr/>
    </dgm:pt>
    <dgm:pt modelId="{5C44B258-9211-4C74-920C-5CFF00642295}" type="pres">
      <dgm:prSet presAssocID="{FC7DBD24-E5D1-4860-AA40-48692976FF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235420A-8EAC-4555-B29E-FAD7CBB2C395}" srcId="{7F84910E-DE80-4A45-BA2A-6D6E387A75AD}" destId="{5BDB5019-0B6E-4688-A271-099EA7F30FE2}" srcOrd="0" destOrd="0" parTransId="{2965D9E9-0CBE-4827-BF0E-C2978CF5BA74}" sibTransId="{EE7509A9-B80C-481A-B4D2-1EB165588E00}"/>
    <dgm:cxn modelId="{10BF9A2E-24AD-449C-AAB5-5DA2310EA317}" type="presOf" srcId="{FC7DBD24-E5D1-4860-AA40-48692976FFFF}" destId="{5C44B258-9211-4C74-920C-5CFF00642295}" srcOrd="0" destOrd="0" presId="urn:microsoft.com/office/officeart/2018/2/layout/IconVerticalSolidList"/>
    <dgm:cxn modelId="{97A9AD48-0B57-42D9-9AE3-F91EF14BFD83}" type="presOf" srcId="{8622A8B2-D5DB-4174-B273-C4E1F99DD9C4}" destId="{5AB8197B-CF72-4500-A37D-012D1F3D6A40}" srcOrd="0" destOrd="0" presId="urn:microsoft.com/office/officeart/2018/2/layout/IconVerticalSolidList"/>
    <dgm:cxn modelId="{97373F6D-8E74-4525-83A2-0710AF0E8879}" srcId="{7F84910E-DE80-4A45-BA2A-6D6E387A75AD}" destId="{47F839FE-200A-4F1F-AE69-2353A83A2C03}" srcOrd="2" destOrd="0" parTransId="{CF3D20EB-9C50-410E-9BED-68BC1A35F8EB}" sibTransId="{D96370C1-E205-47D9-AE89-1F23D96DF526}"/>
    <dgm:cxn modelId="{8FE91B71-EBD7-4958-A5E1-B58D36F0B8A7}" srcId="{7F84910E-DE80-4A45-BA2A-6D6E387A75AD}" destId="{8622A8B2-D5DB-4174-B273-C4E1F99DD9C4}" srcOrd="1" destOrd="0" parTransId="{16D565CE-9D8A-4882-9502-52F685001B88}" sibTransId="{9D8A00A9-99EC-4606-B833-6C0EC5300C32}"/>
    <dgm:cxn modelId="{137E9893-D9A8-43DD-814B-08BE6DA3146C}" srcId="{7F84910E-DE80-4A45-BA2A-6D6E387A75AD}" destId="{FC7DBD24-E5D1-4860-AA40-48692976FFFF}" srcOrd="3" destOrd="0" parTransId="{2D46B4D8-FFD4-437D-BFF3-9C7A75E0B40E}" sibTransId="{4D7A98D3-1E9A-4337-AF50-1143310A9DC2}"/>
    <dgm:cxn modelId="{A194A2C9-14AC-4082-8296-0DE37E5183BF}" type="presOf" srcId="{5BDB5019-0B6E-4688-A271-099EA7F30FE2}" destId="{9C1D8114-F063-4D54-A247-3FE1EE06BAA5}" srcOrd="0" destOrd="0" presId="urn:microsoft.com/office/officeart/2018/2/layout/IconVerticalSolidList"/>
    <dgm:cxn modelId="{452770D4-57B0-4DBC-A0DC-2C656CF92E51}" type="presOf" srcId="{7F84910E-DE80-4A45-BA2A-6D6E387A75AD}" destId="{6F4614A6-E445-4F93-A733-94F337BB518E}" srcOrd="0" destOrd="0" presId="urn:microsoft.com/office/officeart/2018/2/layout/IconVerticalSolidList"/>
    <dgm:cxn modelId="{1DAA54FB-19F3-4E10-A05A-56741B1C733A}" type="presOf" srcId="{47F839FE-200A-4F1F-AE69-2353A83A2C03}" destId="{65230186-8140-440D-963D-2C0361AC1C0C}" srcOrd="0" destOrd="0" presId="urn:microsoft.com/office/officeart/2018/2/layout/IconVerticalSolidList"/>
    <dgm:cxn modelId="{B77F7213-E9E1-488B-ACB3-1194F48C727F}" type="presParOf" srcId="{6F4614A6-E445-4F93-A733-94F337BB518E}" destId="{AEBA5EA4-5262-47D6-90EA-71D5CB5AFC81}" srcOrd="0" destOrd="0" presId="urn:microsoft.com/office/officeart/2018/2/layout/IconVerticalSolidList"/>
    <dgm:cxn modelId="{23A2C713-5637-4D11-9A0A-A86ECBE4A309}" type="presParOf" srcId="{AEBA5EA4-5262-47D6-90EA-71D5CB5AFC81}" destId="{2D84050E-E647-4DD3-83E6-033CDD6F4C1C}" srcOrd="0" destOrd="0" presId="urn:microsoft.com/office/officeart/2018/2/layout/IconVerticalSolidList"/>
    <dgm:cxn modelId="{C4ED60D4-1007-47A0-9828-D34E83DC10A6}" type="presParOf" srcId="{AEBA5EA4-5262-47D6-90EA-71D5CB5AFC81}" destId="{3DB7E441-51BB-4213-8B00-1B97F104E784}" srcOrd="1" destOrd="0" presId="urn:microsoft.com/office/officeart/2018/2/layout/IconVerticalSolidList"/>
    <dgm:cxn modelId="{741C0614-5DEF-4961-A75F-20A969A6DF1B}" type="presParOf" srcId="{AEBA5EA4-5262-47D6-90EA-71D5CB5AFC81}" destId="{C13031B3-F834-4BC6-9BC3-74831E6A23CC}" srcOrd="2" destOrd="0" presId="urn:microsoft.com/office/officeart/2018/2/layout/IconVerticalSolidList"/>
    <dgm:cxn modelId="{FD0FF4F5-A2D5-40FE-ADAE-09DA2879453C}" type="presParOf" srcId="{AEBA5EA4-5262-47D6-90EA-71D5CB5AFC81}" destId="{9C1D8114-F063-4D54-A247-3FE1EE06BAA5}" srcOrd="3" destOrd="0" presId="urn:microsoft.com/office/officeart/2018/2/layout/IconVerticalSolidList"/>
    <dgm:cxn modelId="{162EDD1F-7874-4B6E-828E-F424ED3F0F23}" type="presParOf" srcId="{6F4614A6-E445-4F93-A733-94F337BB518E}" destId="{E037FFAD-416D-4750-813A-DAF1CF3ABD91}" srcOrd="1" destOrd="0" presId="urn:microsoft.com/office/officeart/2018/2/layout/IconVerticalSolidList"/>
    <dgm:cxn modelId="{3EC9437E-2CD7-4B8C-81CF-A67A0196D559}" type="presParOf" srcId="{6F4614A6-E445-4F93-A733-94F337BB518E}" destId="{A7505149-DBFE-4CDA-8151-B9677A3BEB3D}" srcOrd="2" destOrd="0" presId="urn:microsoft.com/office/officeart/2018/2/layout/IconVerticalSolidList"/>
    <dgm:cxn modelId="{2DAD7000-11A3-412D-BEAE-27D971AA1057}" type="presParOf" srcId="{A7505149-DBFE-4CDA-8151-B9677A3BEB3D}" destId="{709782C7-B26B-47E6-8FD4-3EB661A42D7F}" srcOrd="0" destOrd="0" presId="urn:microsoft.com/office/officeart/2018/2/layout/IconVerticalSolidList"/>
    <dgm:cxn modelId="{C155D72E-F0E9-4BDB-B1E2-5D9B63AA548B}" type="presParOf" srcId="{A7505149-DBFE-4CDA-8151-B9677A3BEB3D}" destId="{EEDD9357-C55F-4495-8E31-9CE7FB388C8C}" srcOrd="1" destOrd="0" presId="urn:microsoft.com/office/officeart/2018/2/layout/IconVerticalSolidList"/>
    <dgm:cxn modelId="{F3124D98-CBCE-4A6B-9E10-FA8FF592186D}" type="presParOf" srcId="{A7505149-DBFE-4CDA-8151-B9677A3BEB3D}" destId="{39DA73D1-5041-4BDD-BC9C-AF6E2B0F402C}" srcOrd="2" destOrd="0" presId="urn:microsoft.com/office/officeart/2018/2/layout/IconVerticalSolidList"/>
    <dgm:cxn modelId="{06F5C499-FE7A-496B-AC8D-555A613F1B86}" type="presParOf" srcId="{A7505149-DBFE-4CDA-8151-B9677A3BEB3D}" destId="{5AB8197B-CF72-4500-A37D-012D1F3D6A40}" srcOrd="3" destOrd="0" presId="urn:microsoft.com/office/officeart/2018/2/layout/IconVerticalSolidList"/>
    <dgm:cxn modelId="{5965BBB5-E9E9-4C13-BE86-2443B40A39E4}" type="presParOf" srcId="{6F4614A6-E445-4F93-A733-94F337BB518E}" destId="{E32C0852-F6F9-4D29-9E5F-6AFADA9BE370}" srcOrd="3" destOrd="0" presId="urn:microsoft.com/office/officeart/2018/2/layout/IconVerticalSolidList"/>
    <dgm:cxn modelId="{2FA2B36A-D853-4431-8232-D421BDE7753B}" type="presParOf" srcId="{6F4614A6-E445-4F93-A733-94F337BB518E}" destId="{DB670F47-CB95-41E5-8BD1-E0A59AB97665}" srcOrd="4" destOrd="0" presId="urn:microsoft.com/office/officeart/2018/2/layout/IconVerticalSolidList"/>
    <dgm:cxn modelId="{2E516478-2C42-40DA-8DAC-797E9CBA6308}" type="presParOf" srcId="{DB670F47-CB95-41E5-8BD1-E0A59AB97665}" destId="{3BECE785-E570-4E56-B16E-CC3C5F835595}" srcOrd="0" destOrd="0" presId="urn:microsoft.com/office/officeart/2018/2/layout/IconVerticalSolidList"/>
    <dgm:cxn modelId="{8C873121-38D1-4682-BCC4-8B38DD9DE806}" type="presParOf" srcId="{DB670F47-CB95-41E5-8BD1-E0A59AB97665}" destId="{609A2361-6A53-43F5-8581-A2BE7B379F90}" srcOrd="1" destOrd="0" presId="urn:microsoft.com/office/officeart/2018/2/layout/IconVerticalSolidList"/>
    <dgm:cxn modelId="{E4812679-2006-4709-BD54-73EB3AE135BF}" type="presParOf" srcId="{DB670F47-CB95-41E5-8BD1-E0A59AB97665}" destId="{EFCD468F-9D47-4E63-9EA4-608685CE5CE6}" srcOrd="2" destOrd="0" presId="urn:microsoft.com/office/officeart/2018/2/layout/IconVerticalSolidList"/>
    <dgm:cxn modelId="{FFC27235-C3AC-433A-99AE-903477D5255F}" type="presParOf" srcId="{DB670F47-CB95-41E5-8BD1-E0A59AB97665}" destId="{65230186-8140-440D-963D-2C0361AC1C0C}" srcOrd="3" destOrd="0" presId="urn:microsoft.com/office/officeart/2018/2/layout/IconVerticalSolidList"/>
    <dgm:cxn modelId="{F5A9381E-269F-4CDD-ACC9-2D0BB8FC0196}" type="presParOf" srcId="{6F4614A6-E445-4F93-A733-94F337BB518E}" destId="{D2BC779B-151D-4F22-ACE3-FD43C1BDECEE}" srcOrd="5" destOrd="0" presId="urn:microsoft.com/office/officeart/2018/2/layout/IconVerticalSolidList"/>
    <dgm:cxn modelId="{2AA07829-1077-4526-8D91-98270139D34E}" type="presParOf" srcId="{6F4614A6-E445-4F93-A733-94F337BB518E}" destId="{80633A9D-1C43-41DD-9856-5E83C2A234EE}" srcOrd="6" destOrd="0" presId="urn:microsoft.com/office/officeart/2018/2/layout/IconVerticalSolidList"/>
    <dgm:cxn modelId="{2259B4C4-0202-480F-85A6-033617CC7721}" type="presParOf" srcId="{80633A9D-1C43-41DD-9856-5E83C2A234EE}" destId="{633675C9-D778-4517-B78C-1071323AF3AF}" srcOrd="0" destOrd="0" presId="urn:microsoft.com/office/officeart/2018/2/layout/IconVerticalSolidList"/>
    <dgm:cxn modelId="{2DE1110A-E7E1-4228-A37B-521EDCCDBA8F}" type="presParOf" srcId="{80633A9D-1C43-41DD-9856-5E83C2A234EE}" destId="{719C5199-0953-4620-AF3D-B6B3130804A9}" srcOrd="1" destOrd="0" presId="urn:microsoft.com/office/officeart/2018/2/layout/IconVerticalSolidList"/>
    <dgm:cxn modelId="{F5B528B9-061B-44BC-A3D4-E9D0F94C8E80}" type="presParOf" srcId="{80633A9D-1C43-41DD-9856-5E83C2A234EE}" destId="{0BFD1BBE-BC75-4E5C-9E34-D666CD6B0B91}" srcOrd="2" destOrd="0" presId="urn:microsoft.com/office/officeart/2018/2/layout/IconVerticalSolidList"/>
    <dgm:cxn modelId="{BDC2D836-0132-4D03-A7C4-42F5081AC6FB}" type="presParOf" srcId="{80633A9D-1C43-41DD-9856-5E83C2A234EE}" destId="{5C44B258-9211-4C74-920C-5CFF006422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4050E-E647-4DD3-83E6-033CDD6F4C1C}">
      <dsp:nvSpPr>
        <dsp:cNvPr id="0" name=""/>
        <dsp:cNvSpPr/>
      </dsp:nvSpPr>
      <dsp:spPr>
        <a:xfrm>
          <a:off x="0" y="2041"/>
          <a:ext cx="6024561" cy="1034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7E441-51BB-4213-8B00-1B97F104E784}">
      <dsp:nvSpPr>
        <dsp:cNvPr id="0" name=""/>
        <dsp:cNvSpPr/>
      </dsp:nvSpPr>
      <dsp:spPr>
        <a:xfrm>
          <a:off x="313044" y="234885"/>
          <a:ext cx="569172" cy="5691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D8114-F063-4D54-A247-3FE1EE06BAA5}">
      <dsp:nvSpPr>
        <dsp:cNvPr id="0" name=""/>
        <dsp:cNvSpPr/>
      </dsp:nvSpPr>
      <dsp:spPr>
        <a:xfrm>
          <a:off x="1195261" y="2041"/>
          <a:ext cx="4829299" cy="1034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23" tIns="109523" rIns="109523" bIns="1095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Company Name</a:t>
          </a:r>
          <a:r>
            <a:rPr lang="en-US" sz="1500" b="0" i="0" kern="1200" baseline="0"/>
            <a:t>: MAGNET TELELINKS PVT LTD</a:t>
          </a:r>
          <a:endParaRPr lang="en-US" sz="1500" kern="1200"/>
        </a:p>
      </dsp:txBody>
      <dsp:txXfrm>
        <a:off x="1195261" y="2041"/>
        <a:ext cx="4829299" cy="1034858"/>
      </dsp:txXfrm>
    </dsp:sp>
    <dsp:sp modelId="{709782C7-B26B-47E6-8FD4-3EB661A42D7F}">
      <dsp:nvSpPr>
        <dsp:cNvPr id="0" name=""/>
        <dsp:cNvSpPr/>
      </dsp:nvSpPr>
      <dsp:spPr>
        <a:xfrm>
          <a:off x="0" y="1295615"/>
          <a:ext cx="6024561" cy="1034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D9357-C55F-4495-8E31-9CE7FB388C8C}">
      <dsp:nvSpPr>
        <dsp:cNvPr id="0" name=""/>
        <dsp:cNvSpPr/>
      </dsp:nvSpPr>
      <dsp:spPr>
        <a:xfrm>
          <a:off x="313044" y="1528458"/>
          <a:ext cx="569172" cy="5691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8197B-CF72-4500-A37D-012D1F3D6A40}">
      <dsp:nvSpPr>
        <dsp:cNvPr id="0" name=""/>
        <dsp:cNvSpPr/>
      </dsp:nvSpPr>
      <dsp:spPr>
        <a:xfrm>
          <a:off x="1195261" y="1295615"/>
          <a:ext cx="4829299" cy="1034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23" tIns="109523" rIns="109523" bIns="1095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Industry</a:t>
          </a:r>
          <a:r>
            <a:rPr lang="en-US" sz="1500" b="0" i="0" kern="1200" baseline="0"/>
            <a:t>: Electronics Retail</a:t>
          </a:r>
          <a:endParaRPr lang="en-US" sz="1500" kern="1200"/>
        </a:p>
      </dsp:txBody>
      <dsp:txXfrm>
        <a:off x="1195261" y="1295615"/>
        <a:ext cx="4829299" cy="1034858"/>
      </dsp:txXfrm>
    </dsp:sp>
    <dsp:sp modelId="{3BECE785-E570-4E56-B16E-CC3C5F835595}">
      <dsp:nvSpPr>
        <dsp:cNvPr id="0" name=""/>
        <dsp:cNvSpPr/>
      </dsp:nvSpPr>
      <dsp:spPr>
        <a:xfrm>
          <a:off x="0" y="2589188"/>
          <a:ext cx="6024561" cy="1034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A2361-6A53-43F5-8581-A2BE7B379F90}">
      <dsp:nvSpPr>
        <dsp:cNvPr id="0" name=""/>
        <dsp:cNvSpPr/>
      </dsp:nvSpPr>
      <dsp:spPr>
        <a:xfrm>
          <a:off x="313044" y="2822031"/>
          <a:ext cx="569172" cy="5691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30186-8140-440D-963D-2C0361AC1C0C}">
      <dsp:nvSpPr>
        <dsp:cNvPr id="0" name=""/>
        <dsp:cNvSpPr/>
      </dsp:nvSpPr>
      <dsp:spPr>
        <a:xfrm>
          <a:off x="1195261" y="2589188"/>
          <a:ext cx="4829299" cy="1034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23" tIns="109523" rIns="109523" bIns="1095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Headquarters</a:t>
          </a:r>
          <a:r>
            <a:rPr lang="en-US" sz="1500" b="0" i="0" kern="1200" baseline="0"/>
            <a:t>: Mumbai, India</a:t>
          </a:r>
          <a:endParaRPr lang="en-US" sz="1500" kern="1200"/>
        </a:p>
      </dsp:txBody>
      <dsp:txXfrm>
        <a:off x="1195261" y="2589188"/>
        <a:ext cx="4829299" cy="1034858"/>
      </dsp:txXfrm>
    </dsp:sp>
    <dsp:sp modelId="{633675C9-D778-4517-B78C-1071323AF3AF}">
      <dsp:nvSpPr>
        <dsp:cNvPr id="0" name=""/>
        <dsp:cNvSpPr/>
      </dsp:nvSpPr>
      <dsp:spPr>
        <a:xfrm>
          <a:off x="0" y="3882761"/>
          <a:ext cx="6024561" cy="1034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C5199-0953-4620-AF3D-B6B3130804A9}">
      <dsp:nvSpPr>
        <dsp:cNvPr id="0" name=""/>
        <dsp:cNvSpPr/>
      </dsp:nvSpPr>
      <dsp:spPr>
        <a:xfrm>
          <a:off x="313044" y="4115604"/>
          <a:ext cx="569172" cy="5691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4B258-9211-4C74-920C-5CFF00642295}">
      <dsp:nvSpPr>
        <dsp:cNvPr id="0" name=""/>
        <dsp:cNvSpPr/>
      </dsp:nvSpPr>
      <dsp:spPr>
        <a:xfrm>
          <a:off x="1195261" y="3882761"/>
          <a:ext cx="4829299" cy="1034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23" tIns="109523" rIns="109523" bIns="10952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Overview</a:t>
          </a:r>
          <a:r>
            <a:rPr lang="en-US" sz="1500" b="0" i="0" kern="1200" baseline="0" dirty="0"/>
            <a:t>: Leading pure-play value e-commerce company in India. Top destination for electronics retail, catering to budget-conscious consumers.</a:t>
          </a:r>
          <a:endParaRPr lang="en-US" sz="1500" kern="1200" dirty="0"/>
        </a:p>
      </dsp:txBody>
      <dsp:txXfrm>
        <a:off x="1195261" y="3882761"/>
        <a:ext cx="4829299" cy="1034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0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5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5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6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7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0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6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9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35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734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33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74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291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48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4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1922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2607-F222-2819-939A-561C45253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 dirty="0">
                <a:solidFill>
                  <a:srgbClr val="EBEBEB"/>
                </a:solidFill>
              </a:rPr>
              <a:t>Marketing Analysis of MAGNET TELELINKS PVT LTD</a:t>
            </a:r>
            <a:endParaRPr lang="en-IN" sz="4500" dirty="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8D39E-7278-F113-9934-D8AFC8AB4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777380"/>
            <a:ext cx="5222326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Unveiling Insights to Drive Growth</a:t>
            </a:r>
          </a:p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By Jaspreet Singh Saini</a:t>
            </a:r>
            <a:endParaRPr lang="en-IN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4" name="Picture 23" descr="Digital financial graph">
            <a:extLst>
              <a:ext uri="{FF2B5EF4-FFF2-40B4-BE49-F238E27FC236}">
                <a16:creationId xmlns:a16="http://schemas.microsoft.com/office/drawing/2014/main" id="{50D25CA7-B420-1D3A-3866-78B8D630AD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72" r="26867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1716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8DAC-E00F-81A7-8D87-C263D868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1" y="2217920"/>
            <a:ext cx="3009900" cy="368758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About the Company</a:t>
            </a:r>
          </a:p>
        </p:txBody>
      </p:sp>
      <p:graphicFrame>
        <p:nvGraphicFramePr>
          <p:cNvPr id="20" name="Rectangle 1">
            <a:extLst>
              <a:ext uri="{FF2B5EF4-FFF2-40B4-BE49-F238E27FC236}">
                <a16:creationId xmlns:a16="http://schemas.microsoft.com/office/drawing/2014/main" id="{63648A14-58E6-D821-E163-12DA2DB30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869958"/>
              </p:ext>
            </p:extLst>
          </p:nvPr>
        </p:nvGraphicFramePr>
        <p:xfrm>
          <a:off x="5214938" y="985838"/>
          <a:ext cx="6024561" cy="491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3564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ACA12-AC38-AE00-8C00-156256C1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Sales Dataset Overview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ADEB5D2-BB18-DF67-67AB-70E715642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4109" y="1645920"/>
            <a:ext cx="5919503" cy="44708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Dataset Description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Sales data provided by MAGNET TELELINKS PVT LTD.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 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January 2023 to September 2023.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Scope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Covers various aspects of sales and customer behavior.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Statistics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Number of Records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2,478 rows (individual sales entries).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Number of Attributes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39 columns.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78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DF2A-C800-6FDE-28D3-044D552E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3845-0C37-E28A-BB47-E83D2C680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13" y="1964427"/>
            <a:ext cx="5759604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Initial Dataset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39 columns with diverse sales and customer attributes.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 Taken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Removed irrelevant or redundant columns, such as: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Non-informative attributes (e.g., IDs, empty fields).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Duplicates or columns with excessive missing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Final Feature Set: </a:t>
            </a:r>
            <a:r>
              <a:rPr lang="en-US" b="1" dirty="0"/>
              <a:t>27 relevant features</a:t>
            </a:r>
            <a:r>
              <a:rPr lang="en-US" dirty="0"/>
              <a:t> retained for analysis.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4A7B2A3-B5E7-DDDF-34DB-9BD4E7C288AB}"/>
              </a:ext>
            </a:extLst>
          </p:cNvPr>
          <p:cNvSpPr txBox="1">
            <a:spLocks/>
          </p:cNvSpPr>
          <p:nvPr/>
        </p:nvSpPr>
        <p:spPr>
          <a:xfrm>
            <a:off x="6096000" y="1853248"/>
            <a:ext cx="5759604" cy="4195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/>
              <a:t>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new features to enhance analysis: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Days in Stock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Calculated the number of days a product remained in inventory before being sold.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Provides insights into inventory turnover and product popularity.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Giveaway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Flagged instances where products were offered as part of promotions or complimentary offers.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Helps analyze the effectiveness of promotional strategies.</a:t>
            </a: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96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2B1F-0244-1188-502E-B61E0712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Sales Performance Analysis</a:t>
            </a:r>
            <a:br>
              <a:rPr lang="en-IN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8AF061A-489B-D507-A25E-F1189A8245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426" y="1691147"/>
            <a:ext cx="8247276" cy="409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533488-3EC0-1629-716B-E1D9B43A91C6}"/>
              </a:ext>
            </a:extLst>
          </p:cNvPr>
          <p:cNvSpPr txBox="1"/>
          <p:nvPr/>
        </p:nvSpPr>
        <p:spPr>
          <a:xfrm>
            <a:off x="157316" y="1691147"/>
            <a:ext cx="33233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Peak Sales Period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sales recorded   between </a:t>
            </a:r>
            <a:r>
              <a:rPr lang="en-US" b="1" dirty="0"/>
              <a:t>July and August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Indicates a seasonal trend,   possibly driven by: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Back-to-school season     other promotional campaigns.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Festivals.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43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56D8-5218-B045-780E-905CAFD6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Sales Performance Analysis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2202600-2704-A564-4CEE-30E057AF57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091" y="1853248"/>
            <a:ext cx="5369348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CB965-EE13-0F97-1D8E-0E72AB3729EB}"/>
              </a:ext>
            </a:extLst>
          </p:cNvPr>
          <p:cNvSpPr txBox="1"/>
          <p:nvPr/>
        </p:nvSpPr>
        <p:spPr>
          <a:xfrm>
            <a:off x="403123" y="1730477"/>
            <a:ext cx="51226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Business-to-Consumer (B2C)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 </a:t>
            </a:r>
            <a:r>
              <a:rPr lang="en-US" b="1" dirty="0"/>
              <a:t>75% of total sales</a:t>
            </a:r>
            <a:r>
              <a:rPr lang="en-US" dirty="0"/>
              <a:t> are from B2C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Emphasizes the importance of retail customers in driving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Business-to-Business (B2B)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Contributes less than </a:t>
            </a:r>
            <a:r>
              <a:rPr lang="en-US" b="1" dirty="0"/>
              <a:t>25%</a:t>
            </a:r>
            <a:r>
              <a:rPr lang="en-US" dirty="0"/>
              <a:t>, highlighting potential for growth in this segment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669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42C3-474E-66C5-EFD2-C6E11F13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Customer Behaviour Analysis</a:t>
            </a:r>
            <a:br>
              <a:rPr lang="en-IN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D658D4-788A-786A-248A-4172E699F1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822" y="1751188"/>
            <a:ext cx="7292563" cy="465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7F1812-4218-EA16-FC5C-543C430846C4}"/>
              </a:ext>
            </a:extLst>
          </p:cNvPr>
          <p:cNvSpPr txBox="1"/>
          <p:nvPr/>
        </p:nvSpPr>
        <p:spPr>
          <a:xfrm>
            <a:off x="231112" y="1152983"/>
            <a:ext cx="43006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Android Dominance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Customers show a strong preference for </a:t>
            </a:r>
            <a:r>
              <a:rPr lang="en-US" b="1" dirty="0"/>
              <a:t>Android devices</a:t>
            </a:r>
            <a:r>
              <a:rPr lang="en-US" dirty="0"/>
              <a:t> over 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Android sales account for most smartphone purchases.</a:t>
            </a:r>
          </a:p>
          <a:p>
            <a:r>
              <a:rPr lang="en-US" b="1" dirty="0"/>
              <a:t>Possible Reasons for Preference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Affordability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Android devices offer a wider range of price points, catering to budget-conscious consumers.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Variety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Diverse options in brands, models, and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Customization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Android's flexibility appeals to tech-savvy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22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2F8D-54BC-D2BF-8F99-7EC8EA7AB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6817"/>
          </a:xfrm>
        </p:spPr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Customer Behaviour Analysis</a:t>
            </a:r>
            <a:br>
              <a:rPr lang="en-IN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4004B6-89AC-7344-05A1-E24F44180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519720"/>
              </p:ext>
            </p:extLst>
          </p:nvPr>
        </p:nvGraphicFramePr>
        <p:xfrm>
          <a:off x="6166926" y="1611597"/>
          <a:ext cx="5376147" cy="3634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037">
                  <a:extLst>
                    <a:ext uri="{9D8B030D-6E8A-4147-A177-3AD203B41FA5}">
                      <a16:colId xmlns:a16="http://schemas.microsoft.com/office/drawing/2014/main" val="604444385"/>
                    </a:ext>
                  </a:extLst>
                </a:gridCol>
                <a:gridCol w="1344037">
                  <a:extLst>
                    <a:ext uri="{9D8B030D-6E8A-4147-A177-3AD203B41FA5}">
                      <a16:colId xmlns:a16="http://schemas.microsoft.com/office/drawing/2014/main" val="2211883966"/>
                    </a:ext>
                  </a:extLst>
                </a:gridCol>
                <a:gridCol w="1295306">
                  <a:extLst>
                    <a:ext uri="{9D8B030D-6E8A-4147-A177-3AD203B41FA5}">
                      <a16:colId xmlns:a16="http://schemas.microsoft.com/office/drawing/2014/main" val="301783497"/>
                    </a:ext>
                  </a:extLst>
                </a:gridCol>
                <a:gridCol w="1392767">
                  <a:extLst>
                    <a:ext uri="{9D8B030D-6E8A-4147-A177-3AD203B41FA5}">
                      <a16:colId xmlns:a16="http://schemas.microsoft.com/office/drawing/2014/main" val="491942366"/>
                    </a:ext>
                  </a:extLst>
                </a:gridCol>
              </a:tblGrid>
              <a:tr h="544081">
                <a:tc>
                  <a:txBody>
                    <a:bodyPr/>
                    <a:lstStyle/>
                    <a:p>
                      <a:pPr algn="l"/>
                      <a:br>
                        <a:rPr lang="en-IN" b="1" dirty="0">
                          <a:effectLst/>
                        </a:rPr>
                      </a:br>
                      <a:r>
                        <a:rPr lang="en-IN" b="1" dirty="0">
                          <a:effectLst/>
                        </a:rP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Recency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</a:rPr>
                        <a:t>Frequency</a:t>
                      </a:r>
                    </a:p>
                    <a:p>
                      <a:pPr algn="l"/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</a:rPr>
                        <a:t>Monetary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</a:rPr>
                        <a:t>Value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006620"/>
                  </a:ext>
                </a:extLst>
              </a:tr>
              <a:tr h="544081"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>
                          <a:effectLst/>
                        </a:rPr>
                        <a:t>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>
                          <a:effectLst/>
                        </a:rPr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>
                          <a:effectLst/>
                        </a:rPr>
                        <a:t>2967139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120629"/>
                  </a:ext>
                </a:extLst>
              </a:tr>
              <a:tr h="544081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BOAT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402728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510555"/>
                  </a:ext>
                </a:extLst>
              </a:tr>
              <a:tr h="544081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CONEKT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462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1500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215558"/>
                  </a:ext>
                </a:extLst>
              </a:tr>
              <a:tr h="544081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DEFY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825859"/>
                  </a:ext>
                </a:extLst>
              </a:tr>
              <a:tr h="544081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FIRE BOLTT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442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>
                          <a:effectLst/>
                        </a:rPr>
                        <a:t>160339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7269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264CC4-D063-604D-E33D-00F65FAFADED}"/>
              </a:ext>
            </a:extLst>
          </p:cNvPr>
          <p:cNvSpPr txBox="1"/>
          <p:nvPr/>
        </p:nvSpPr>
        <p:spPr>
          <a:xfrm>
            <a:off x="403123" y="1563329"/>
            <a:ext cx="5486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Monetary Value for Apple Models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Despite lower sales volume compared to Android, Apple models generate the </a:t>
            </a:r>
            <a:r>
              <a:rPr lang="en-US" b="1" dirty="0"/>
              <a:t>highest monetary value</a:t>
            </a:r>
            <a:r>
              <a:rPr lang="en-US" dirty="0"/>
              <a:t> per purchase.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Indicates strong brand loyalty and willingness to pay premium prices.</a:t>
            </a:r>
          </a:p>
          <a:p>
            <a:r>
              <a:rPr lang="en-US" b="1" dirty="0"/>
              <a:t>Possible Drivers of High Monetary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Premium Pricing</a:t>
            </a:r>
            <a:r>
              <a:rPr lang="en-US" dirty="0"/>
              <a:t>: Apple’s products are positioned as luxury items.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Customer Loyalty</a:t>
            </a:r>
            <a:r>
              <a:rPr lang="en-US" dirty="0"/>
              <a:t>: Apple’s ecosystem encourages repeat purchases.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Higher Margins</a:t>
            </a:r>
            <a:r>
              <a:rPr lang="en-US" dirty="0"/>
              <a:t>: Products contribute significantly to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64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19A3-E776-57D9-6740-4DC5AE13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RFM ON customer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CBEBE93-F28E-A9F5-F43E-1225BBF67F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3248"/>
            <a:ext cx="5184658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949F308-44E2-5EAF-B1A3-21FF8AB15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49" y="1853248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09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B2C0-D8C3-448B-C470-27342AD2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Valuable Models and Products	</a:t>
            </a:r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0069504-2074-5D47-315F-8D4E7A29BD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2" y="2092831"/>
            <a:ext cx="11191056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6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881F-8BDB-D4FF-B633-5208F817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OPPO A78 5G Best Selling Product</a:t>
            </a:r>
            <a:br>
              <a:rPr lang="en-IN" b="0" i="0" dirty="0">
                <a:solidFill>
                  <a:srgbClr val="17181A"/>
                </a:solidFill>
                <a:effectLst/>
                <a:latin typeface="Poppins" panose="020B0502040204020203" pitchFamily="2" charset="0"/>
              </a:rPr>
            </a:br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89B4860-A300-7862-F355-BEB274BD95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490" y="2032540"/>
            <a:ext cx="8496961" cy="437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OPPO A78 5G 8GB | 128GB">
            <a:extLst>
              <a:ext uri="{FF2B5EF4-FFF2-40B4-BE49-F238E27FC236}">
                <a16:creationId xmlns:a16="http://schemas.microsoft.com/office/drawing/2014/main" id="{7007A6E2-427D-BC47-8E29-5879CD034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9495" y="1547429"/>
            <a:ext cx="4366481" cy="437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719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EB35-9D68-57E9-5303-E8387C5B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Break Even Point For </a:t>
            </a:r>
            <a:r>
              <a:rPr lang="en-IN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OPPO A78 5G</a:t>
            </a:r>
            <a:r>
              <a:rPr lang="en-IN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br>
              <a:rPr lang="en-IN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pic>
        <p:nvPicPr>
          <p:cNvPr id="4" name="Picture 8" descr="OPPO A78 5G 8GB | 128GB">
            <a:extLst>
              <a:ext uri="{FF2B5EF4-FFF2-40B4-BE49-F238E27FC236}">
                <a16:creationId xmlns:a16="http://schemas.microsoft.com/office/drawing/2014/main" id="{E441FD9B-F889-78EE-BCB0-E92798C112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1578" y="3665115"/>
            <a:ext cx="3464945" cy="346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graph with a line pointing to the point&#10;&#10;Description automatically generated with medium confidence">
            <a:extLst>
              <a:ext uri="{FF2B5EF4-FFF2-40B4-BE49-F238E27FC236}">
                <a16:creationId xmlns:a16="http://schemas.microsoft.com/office/drawing/2014/main" id="{4D0F2D8C-C9D9-2B4E-293F-EF587DD18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21" y="1853248"/>
            <a:ext cx="8672844" cy="48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3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B34A-62B7-8278-84DC-1D8896D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Promotion Planning(part1)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210AF9B-BD6F-43A1-DB84-EE341E2595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694" y="1537387"/>
            <a:ext cx="7624158" cy="461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EC704D-BC8A-F53E-AF46-87C4708E7226}"/>
              </a:ext>
            </a:extLst>
          </p:cNvPr>
          <p:cNvSpPr txBox="1"/>
          <p:nvPr/>
        </p:nvSpPr>
        <p:spPr>
          <a:xfrm>
            <a:off x="281354" y="1537387"/>
            <a:ext cx="39088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appears that </a:t>
            </a:r>
            <a:r>
              <a:rPr lang="en-US" b="1" dirty="0"/>
              <a:t>Magnet Telecoms</a:t>
            </a:r>
            <a:r>
              <a:rPr lang="en-US" dirty="0"/>
              <a:t> gave away a total of </a:t>
            </a:r>
            <a:r>
              <a:rPr lang="en-US" b="1" dirty="0"/>
              <a:t>Rs 270,151.21</a:t>
            </a:r>
            <a:r>
              <a:rPr lang="en-US" dirty="0"/>
              <a:t> over a 9-month period.</a:t>
            </a:r>
          </a:p>
          <a:p>
            <a:endParaRPr lang="en-US" b="1" dirty="0"/>
          </a:p>
          <a:p>
            <a:r>
              <a:rPr lang="en-US" b="1" dirty="0"/>
              <a:t>Higher Giveaways Do Not Always Correlate with Increased Sales: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some months (e.g., March and July), giveaway campaigns peaked significantly, but this did not result in proportionally higher sales. This suggests that giveaways alone may not drive sales effectively without a complementary strategy, such as targeted advertising or bundling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994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9050-8938-51D0-4BA7-16391605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Promotion Planning(part2)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06966-A90C-80FB-EF69-AC24B6B8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68363"/>
            <a:ext cx="8946541" cy="2438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Bundling Slow-Moving Products with Popular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Strategy</a:t>
            </a:r>
            <a:r>
              <a:rPr lang="en-US" dirty="0"/>
              <a:t>: Combine slow-moving inventory with high-demand products in bundled offers. For example, "Buy our best-seller and get [slow-moving product] for free!"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Benefit</a:t>
            </a:r>
            <a:r>
              <a:rPr lang="en-US" dirty="0"/>
              <a:t>: This reduces shelf space usage while boosting sales of popular products, creating a win-win scenario. It also gives exposure to the lesser-known or slow-moving product.</a:t>
            </a:r>
          </a:p>
          <a:p>
            <a:endParaRPr lang="en-IN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3B73D15-3B5C-CC4E-518F-7D6D27444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75" y="3527960"/>
            <a:ext cx="10641204" cy="33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46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7334-C627-8A59-9E10-8B6D3F65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SWOT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6B0045-C49F-16AB-7722-E7CDBC2C7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714362"/>
              </p:ext>
            </p:extLst>
          </p:nvPr>
        </p:nvGraphicFramePr>
        <p:xfrm>
          <a:off x="114710" y="1198394"/>
          <a:ext cx="11988800" cy="557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0">
                  <a:extLst>
                    <a:ext uri="{9D8B030D-6E8A-4147-A177-3AD203B41FA5}">
                      <a16:colId xmlns:a16="http://schemas.microsoft.com/office/drawing/2014/main" val="2158542995"/>
                    </a:ext>
                  </a:extLst>
                </a:gridCol>
              </a:tblGrid>
              <a:tr h="139400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Strengths: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Established Brand Presence: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Recognizable in the market, providing a foundation for B2B expansion.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Diverse Product Range: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Ability to cater to different customer segments, including businesses.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Existing Infrastructure: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Distribution and operational networks can be leveraged for B2B strategies.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671787"/>
                  </a:ext>
                </a:extLst>
              </a:tr>
              <a:tr h="139400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Weaknesses: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Ineffective Marketing Strategies: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Current efforts are not driving desired results, leading to inefficient budget allocation.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Limited Online Presence: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Lagging behind competitors on digital platforms, reducing reach and visibility.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Dependency on Giveaways: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Heavy reliance on discounts and giveaways might devalue the brand.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63788"/>
                  </a:ext>
                </a:extLst>
              </a:tr>
              <a:tr h="139400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Opportunities: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Expansion into B2B Markets: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Targeting businesses with tailored solutions (e.g., bulk sales, corporate contracts) to diversify revenue streams.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Digital Transformation: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Invest in e-commerce, social media marketing, and online customer support to capture the growing online audience.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Partnerships and Collaborations: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Collaborate with service providers or corporate clients to secure bulk deals and contracts.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302888"/>
                  </a:ext>
                </a:extLst>
              </a:tr>
              <a:tr h="139400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Threats: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Rising Competition from Online Platforms: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E-commerce giants and direct-to-consumer brands are capturing market share.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Economic Fluctuations: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Changes in market demand or financial constraints of potential clients can affect sales.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Rapid Technology Changes: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Falling behind in innovation could lead to obsolescence in a competitive industry.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02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35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CA53-921C-A3A0-4773-150F9DE9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4AB9-51DD-239A-CC9F-B77A782B5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Focus on B2B Expansion:</a:t>
            </a:r>
            <a:r>
              <a:rPr lang="en-US" dirty="0"/>
              <a:t> Develop business-centric packages or solutions for corporate clients, like customized plans, device bundles, or service agreements.</a:t>
            </a:r>
          </a:p>
          <a:p>
            <a:r>
              <a:rPr lang="en-US" b="1" dirty="0"/>
              <a:t>Strengthen Digital Strategy:</a:t>
            </a:r>
            <a:r>
              <a:rPr lang="en-US" dirty="0"/>
              <a:t> Build a strong online presence through SEO, targeted ads, and engaging content to compete with online platforms.</a:t>
            </a:r>
          </a:p>
          <a:p>
            <a:r>
              <a:rPr lang="en-US" b="1" dirty="0"/>
              <a:t>Enhance Value Proposition:</a:t>
            </a:r>
            <a:r>
              <a:rPr lang="en-US" dirty="0"/>
              <a:t> Move away from giveaways toward demonstrating product quality and service reliability for long-term brand equity.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1159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158</TotalTime>
  <Words>955</Words>
  <Application>Microsoft Office PowerPoint</Application>
  <PresentationFormat>Widescreen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Poppins</vt:lpstr>
      <vt:lpstr>Roboto</vt:lpstr>
      <vt:lpstr>Wingdings 3</vt:lpstr>
      <vt:lpstr>Ion</vt:lpstr>
      <vt:lpstr>Marketing Analysis of MAGNET TELELINKS PVT LTD</vt:lpstr>
      <vt:lpstr>About the Company</vt:lpstr>
      <vt:lpstr>Sales Dataset Overview</vt:lpstr>
      <vt:lpstr>Data Cleaning and Feature Engineering</vt:lpstr>
      <vt:lpstr>Sales Performance Analysis </vt:lpstr>
      <vt:lpstr>Sales Performance Analysis</vt:lpstr>
      <vt:lpstr>Customer Behaviour Analysis </vt:lpstr>
      <vt:lpstr>Customer Behaviour Analysis </vt:lpstr>
      <vt:lpstr>RFM ON customer</vt:lpstr>
      <vt:lpstr>Identifying Valuable Models and Products </vt:lpstr>
      <vt:lpstr>OPPO A78 5G Best Selling Product </vt:lpstr>
      <vt:lpstr>Break Even Point For OPPO A78 5G  </vt:lpstr>
      <vt:lpstr>Promotion Planning(part1)</vt:lpstr>
      <vt:lpstr>Promotion Planning(part2)</vt:lpstr>
      <vt:lpstr>SWOT</vt:lpstr>
      <vt:lpstr>Recommendations: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jaspreet_singh_saini@outlook.com</dc:creator>
  <cp:lastModifiedBy>jaspreet_singh_saini@outlook.com</cp:lastModifiedBy>
  <cp:revision>2</cp:revision>
  <dcterms:created xsi:type="dcterms:W3CDTF">2024-12-05T02:04:02Z</dcterms:created>
  <dcterms:modified xsi:type="dcterms:W3CDTF">2024-12-05T04:42:16Z</dcterms:modified>
</cp:coreProperties>
</file>